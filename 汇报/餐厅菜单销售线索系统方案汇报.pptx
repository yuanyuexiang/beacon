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9" r:id="rId16"/>
    <p:sldId id="267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1F3A2E"/>
                </a:solidFill>
                <a:latin typeface="微软雅黑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1F3A2E"/>
                </a:solidFill>
                <a:latin typeface="微软雅黑"/>
              </a:rPr>
              <a:t>看板示意：从名单到报价的完整漏斗</a:t>
            </a:r>
            <a:endParaRPr sz="1200" b="0" i="0" u="none" strike="noStrike">
              <a:solidFill>
                <a:srgbClr val="1F3A2E"/>
              </a:solidFill>
              <a:latin typeface="微软雅黑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示意漏斗</c:v>
                </c:pt>
              </c:strCache>
            </c:strRef>
          </c:tx>
          <c:spPr>
            <a:solidFill>
              <a:srgbClr val="1F3A2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E2421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筛选餐厅</c:v>
                </c:pt>
                <c:pt idx="1">
                  <c:v>高匹配触达</c:v>
                </c:pt>
                <c:pt idx="2">
                  <c:v>回复</c:v>
                </c:pt>
                <c:pt idx="3">
                  <c:v>有兴趣</c:v>
                </c:pt>
                <c:pt idx="4">
                  <c:v>报价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1000</c:v>
                </c:pt>
                <c:pt idx="1">
                  <c:v>300</c:v>
                </c:pt>
                <c:pt idx="2">
                  <c:v>15</c:v>
                </c:pt>
                <c:pt idx="3">
                  <c:v>6</c:v>
                </c:pt>
                <c:pt idx="4">
                  <c:v>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1E2421"/>
                </a:solidFill>
                <a:latin typeface="微软雅黑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b401170b-1add-4248-971c-5b96efca61be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开场：今天汇报一套帮助菜单设计与印刷业务在欧洲主动获客的系统，重点讲数据从哪来、怎么联系餐厅、怎么试点、怎么收费。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收尾：建议先签验证版，一周内确认试点范围和账号准备。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png"/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.png"/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109270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78308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餐厅菜单销售线索系统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5146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9CD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Restaurant Menu Sales Intelligence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15468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持续发现最需要菜单改版的餐厅，让销售只和有兴趣的客户对话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D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方案汇报  ·  2026 年 9 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今天销售开发餐厅的四个难点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68523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5544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找餐厅耗时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938528"/>
            <a:ext cx="278892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销售大量时间花在搜名单、找电话和邮箱上，真正沟通的时间很少。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28016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37760" y="1554480"/>
            <a:ext cx="502920" cy="50292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519" y="168523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23560" y="15544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不知道谁需要改版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623560" y="1938528"/>
            <a:ext cx="278892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上千家餐厅里，哪些菜单有问题、哪些刚开业，靠人工很难判断。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30175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342259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2918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只发邮件没人看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417320" y="3675888"/>
            <a:ext cx="278892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很多老板很少看邮箱，发到 info@ 这类公共邮箱的冷邮件回复率低于 1%。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663440" y="30175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937760" y="3291840"/>
            <a:ext cx="502920" cy="50292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8519" y="3422599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23560" y="32918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跟进容易遗漏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5623560" y="3675888"/>
            <a:ext cx="278892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多个渠道、多次跟进靠人记，线索很容易断掉。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8412480" y="475488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B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系统做什么：从发现餐厅到销售接管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B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固定、可追溯的流程；只把菜单判断、文案和回复分类交给 AI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261872" cy="2377440"/>
          </a:xfrm>
          <a:prstGeom prst="roundRect">
            <a:avLst>
              <a:gd name="adj" fmla="val 5797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" y="1874520"/>
            <a:ext cx="548640" cy="54864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462" y="20171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514600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55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30352" y="2788920"/>
            <a:ext cx="1115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发现餐厅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3200400"/>
            <a:ext cx="1042416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开放数据和政府登记建名单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828800" y="1600200"/>
            <a:ext cx="1261872" cy="2377440"/>
          </a:xfrm>
          <a:prstGeom prst="roundRect">
            <a:avLst>
              <a:gd name="adj" fmla="val 5797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85416" y="1874520"/>
            <a:ext cx="548640" cy="54864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062" y="201716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28800" y="2514600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55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901952" y="2788920"/>
            <a:ext cx="1115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采集联系方式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938528" y="3200400"/>
            <a:ext cx="1042416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官网补全电话、WhatsApp、社交、邮箱和菜单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200400" y="1600200"/>
            <a:ext cx="1261872" cy="2377440"/>
          </a:xfrm>
          <a:prstGeom prst="roundRect">
            <a:avLst>
              <a:gd name="adj" fmla="val 5797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557016" y="1874520"/>
            <a:ext cx="548640" cy="54864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662" y="201716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200400" y="2514600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55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3273552" y="2788920"/>
            <a:ext cx="1115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菜单体检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3310128" y="3200400"/>
            <a:ext cx="1042416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找出真实存在的菜单问题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572000" y="1600200"/>
            <a:ext cx="1261872" cy="2377440"/>
          </a:xfrm>
          <a:prstGeom prst="roundRect">
            <a:avLst>
              <a:gd name="adj" fmla="val 5797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928616" y="1874520"/>
            <a:ext cx="548640" cy="54864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1262" y="2017166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572000" y="2514600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55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4645152" y="2788920"/>
            <a:ext cx="1115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获客评分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4681728" y="3200400"/>
            <a:ext cx="1042416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优先联系最需要改版、刚开业的餐厅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943600" y="1600200"/>
            <a:ext cx="1261872" cy="2377440"/>
          </a:xfrm>
          <a:prstGeom prst="roundRect">
            <a:avLst>
              <a:gd name="adj" fmla="val 5797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300216" y="1874520"/>
            <a:ext cx="548640" cy="54864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2862" y="2017166"/>
            <a:ext cx="263347" cy="263347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943600" y="2514600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55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6016752" y="2788920"/>
            <a:ext cx="1115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多渠道跟进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6053328" y="3200400"/>
            <a:ext cx="1042416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WhatsApp、电话、邮件、Instagram、实物样品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7315200" y="1600200"/>
            <a:ext cx="1261872" cy="2377440"/>
          </a:xfrm>
          <a:prstGeom prst="roundRect">
            <a:avLst>
              <a:gd name="adj" fmla="val 5797"/>
            </a:avLst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7671816" y="1874520"/>
            <a:ext cx="548640" cy="54864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4462" y="2017166"/>
            <a:ext cx="263347" cy="263347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7315200" y="2514600"/>
            <a:ext cx="1261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CD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0"/>
          <p:cNvSpPr txBox="1"/>
          <p:nvPr/>
        </p:nvSpPr>
        <p:spPr>
          <a:xfrm>
            <a:off x="7388352" y="2788920"/>
            <a:ext cx="1115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销售接管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7424928" y="3200400"/>
            <a:ext cx="1042416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有兴趣的客户直接交给销售</a:t>
            </a:r>
            <a:endParaRPr lang="en-US" sz="1050" dirty="0"/>
          </a:p>
        </p:txBody>
      </p:sp>
      <p:sp>
        <p:nvSpPr>
          <p:cNvPr id="40" name="Text 32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6B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系统负责研究和准备，销售负责和餐厅建立关系。</a:t>
            </a:r>
            <a:endParaRPr lang="en-US" sz="1300" dirty="0"/>
          </a:p>
        </p:txBody>
      </p:sp>
      <p:sp>
        <p:nvSpPr>
          <p:cNvPr id="41" name="Text 33"/>
          <p:cNvSpPr txBox="1"/>
          <p:nvPr/>
        </p:nvSpPr>
        <p:spPr>
          <a:xfrm>
            <a:off x="8412480" y="475488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B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数据从哪里来：免费开放数据打底，官网补全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B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Overture 开放地图数据实测（2026-09-25，伦敦 / 都柏林 / 阿姆斯特丹）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855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89–93%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146304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有电话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4884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855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80–84%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224028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有官网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9260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855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80–93%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3017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有社交账号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7033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855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36–53%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379476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有邮箱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1325880"/>
            <a:ext cx="4389120" cy="658368"/>
          </a:xfrm>
          <a:prstGeom prst="roundRect">
            <a:avLst>
              <a:gd name="adj" fmla="val 8333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472184"/>
            <a:ext cx="365760" cy="36576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34840" y="147218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138074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底库名单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165506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英国食品卫生评级全量数据 + Overture 开放地图数据，可合法保存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0" y="2103120"/>
            <a:ext cx="4389120" cy="658368"/>
          </a:xfrm>
          <a:prstGeom prst="roundRect">
            <a:avLst>
              <a:gd name="adj" fmla="val 8333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0" y="2249424"/>
            <a:ext cx="365760" cy="365760"/>
          </a:xfrm>
          <a:prstGeom prst="ellipse">
            <a:avLst/>
          </a:prstGeom>
          <a:solidFill>
            <a:srgbClr val="2E5443"/>
          </a:solidFill>
          <a:ln w="12700">
            <a:solidFill>
              <a:srgbClr val="2E544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34840" y="224942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215798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新开业信号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243230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食品卫生“等待检查”记录、新注册的餐厅公司、场所许可申请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97680" y="2880360"/>
            <a:ext cx="4389120" cy="658368"/>
          </a:xfrm>
          <a:prstGeom prst="roundRect">
            <a:avLst>
              <a:gd name="adj" fmla="val 8333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0" y="3026664"/>
            <a:ext cx="365760" cy="36576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34840" y="302666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2935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官网补全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937760" y="320954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WhatsApp 链接、Instagram、邮箱、联系表单、菜单、老板姓名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97680" y="3657600"/>
            <a:ext cx="4389120" cy="658368"/>
          </a:xfrm>
          <a:prstGeom prst="roundRect">
            <a:avLst>
              <a:gd name="adj" fmla="val 8333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34840" y="3803904"/>
            <a:ext cx="365760" cy="365760"/>
          </a:xfrm>
          <a:prstGeom prst="ellipse">
            <a:avLst/>
          </a:prstGeom>
          <a:solidFill>
            <a:srgbClr val="5E6B64"/>
          </a:solidFill>
          <a:ln w="12700">
            <a:solidFill>
              <a:srgbClr val="5E6B6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34840" y="38039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371246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实时参考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937760" y="398678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Google 评分只在打开线索时显示，不存入数据库，符合其条款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E6B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数据费用接近零，预算用在官网采集质量和人工抽检上。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475488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B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新开业的餐厅，最需要一份新菜单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B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英国政府公开数据每天更新，可以自动发现新店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 1,600</a:t>
            </a: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家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688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 8 月英国新注册的餐厅公司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4612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CD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来源：公司注册处 SIC 56101 / 56102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4173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64592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855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497</a:t>
            </a:r>
            <a:r>
              <a:rPr lang="en-US" sz="1400" dirty="0">
                <a:solidFill>
                  <a:srgbClr val="C855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家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4688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曼彻斯特等待首次卫生检查的餐饮场所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24612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B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来源：食品标准局评级数据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64592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855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91</a:t>
            </a:r>
            <a:r>
              <a:rPr lang="en-US" sz="1400" dirty="0">
                <a:solidFill>
                  <a:srgbClr val="C855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家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4688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伦敦威斯敏斯特区等待首次卫生检查的场所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324612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B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来源：食品标准局评级数据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411480" cy="41148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5" y="4084625"/>
            <a:ext cx="197510" cy="19751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005840" y="400507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公司登记还能区分有限公司和个体经营者，决定每家店适合用哪些渠道联系。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0" y="475488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B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菜单体检：用真实问题打开对话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61872"/>
            <a:ext cx="201168" cy="2011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8680" y="1188720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低清照片或扫描件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64208"/>
            <a:ext cx="201168" cy="20116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68680" y="1591056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手机上难以阅读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66544"/>
            <a:ext cx="201168" cy="20116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68680" y="1993392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分类混乱、字体过小</a:t>
            </a:r>
            <a:endParaRPr lang="en-US" sz="13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468880"/>
            <a:ext cx="201168" cy="20116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68680" y="2395728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价格和货币格式不统一</a:t>
            </a:r>
            <a:endParaRPr lang="en-US" sz="13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871216"/>
            <a:ext cx="201168" cy="20116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868680" y="2798064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缺少当地语言或双语版本</a:t>
            </a:r>
            <a:endParaRPr lang="en-US" sz="13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73552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868680" y="3200400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缺少过敏原、素食标识</a:t>
            </a:r>
            <a:endParaRPr lang="en-US" sz="13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75888"/>
            <a:ext cx="201168" cy="201168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868680" y="3602736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招牌菜没有突出</a:t>
            </a:r>
            <a:endParaRPr lang="en-US" sz="13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78224"/>
            <a:ext cx="201168" cy="201168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868680" y="4005072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官网与外卖平台菜单不一致</a:t>
            </a:r>
            <a:endParaRPr lang="en-US" sz="1300" dirty="0"/>
          </a:p>
        </p:txBody>
      </p:sp>
      <p:sp>
        <p:nvSpPr>
          <p:cNvPr id="19" name="Shape 9"/>
          <p:cNvSpPr/>
          <p:nvPr/>
        </p:nvSpPr>
        <p:spPr>
          <a:xfrm>
            <a:off x="4480560" y="1188720"/>
            <a:ext cx="4206240" cy="3200400"/>
          </a:xfrm>
          <a:prstGeom prst="roundRect">
            <a:avLst>
              <a:gd name="adj" fmla="val 2286"/>
            </a:avLst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20" name="Shape 10"/>
          <p:cNvSpPr/>
          <p:nvPr/>
        </p:nvSpPr>
        <p:spPr>
          <a:xfrm>
            <a:off x="4709160" y="1417320"/>
            <a:ext cx="502920" cy="50292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919" y="1548079"/>
            <a:ext cx="241402" cy="241402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5349240" y="146304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自动生成免费体检材料</a:t>
            </a:r>
            <a:endParaRPr lang="en-US" sz="1600" dirty="0"/>
          </a:p>
        </p:txBody>
      </p:sp>
      <p:sp>
        <p:nvSpPr>
          <p:cNvPr id="23" name="Text 12"/>
          <p:cNvSpPr txBox="1"/>
          <p:nvPr/>
        </p:nvSpPr>
        <p:spPr>
          <a:xfrm>
            <a:off x="4754880" y="2103120"/>
            <a:ext cx="37490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一页菜单诊断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原菜单与改版示例对比图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手机端菜单预览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按对方品牌风格设计的一页样品</a:t>
            </a:r>
            <a:endParaRPr lang="en-US" sz="1300" dirty="0"/>
          </a:p>
        </p:txBody>
      </p:sp>
      <p:sp>
        <p:nvSpPr>
          <p:cNvPr id="24" name="Text 13"/>
          <p:cNvSpPr txBox="1"/>
          <p:nvPr/>
        </p:nvSpPr>
        <p:spPr>
          <a:xfrm>
            <a:off x="4754880" y="3566160"/>
            <a:ext cx="37490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CD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只引用系统实际检测到的问题；样品用真实菜单数据填入设计模板生成，保证菜名和价格准确。</a:t>
            </a:r>
            <a:endParaRPr lang="en-US" sz="1100" dirty="0"/>
          </a:p>
        </p:txBody>
      </p:sp>
      <p:sp>
        <p:nvSpPr>
          <p:cNvPr id="25" name="Text 14"/>
          <p:cNvSpPr txBox="1"/>
          <p:nvPr/>
        </p:nvSpPr>
        <p:spPr>
          <a:xfrm>
            <a:off x="8412480" y="475488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B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在老板真正会看的渠道上联系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B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原则：系统自动准备，销售一键发送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77667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536192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WhatsApp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847088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一句话说明问题，附改版对比图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3716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29000" y="1645920"/>
            <a:ext cx="502920" cy="50292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759" y="177667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69080" y="1536192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电话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069080" y="1847088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系统提供开场白和菜单问题要点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17920" y="1645920"/>
            <a:ext cx="502920" cy="50292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679" y="177667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58000" y="1536192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邮件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858000" y="1847088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完整菜单诊断，系统自动发送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26060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" y="2880360"/>
            <a:ext cx="502920" cy="50292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301111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80160" y="2770632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Instagram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1280160" y="3081528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视觉对比，适合重视风格的餐厅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46120" y="26060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429000" y="2880360"/>
            <a:ext cx="502920" cy="50292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9759" y="301111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069080" y="2770632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实物样品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069080" y="3081528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高分餐厅寄一页印好的改版菜单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35040" y="26060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217920" y="2880360"/>
            <a:ext cx="502920" cy="50292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8679" y="301111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858000" y="2770632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LinkedIn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6858000" y="3081528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连锁店和餐饮集团的决策人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E6B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WhatsApp 和 Instagram 由销售逐条确认后发送，每个账号每天几十条，避免被平台限流或封号。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8412480" y="475488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B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默认的 14 天多渠道跟进节奏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B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缺少的渠道自动替换；任一渠道收到回复，所有跟进立即停止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7498080" cy="0"/>
          </a:xfrm>
          <a:prstGeom prst="line">
            <a:avLst/>
          </a:prstGeom>
          <a:noFill/>
          <a:ln w="25400">
            <a:solidFill>
              <a:srgbClr val="B9CD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73352"/>
            <a:ext cx="402336" cy="402336"/>
          </a:xfrm>
          <a:prstGeom prst="ellipse">
            <a:avLst/>
          </a:prstGeom>
          <a:solidFill>
            <a:srgbClr val="C855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3444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0 天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55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WhatsApp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51760"/>
            <a:ext cx="15087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指出菜单问题，附对比图；高分餐厅同步寄样品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40864" y="1673352"/>
            <a:ext cx="402336" cy="402336"/>
          </a:xfrm>
          <a:prstGeom prst="ellipse">
            <a:avLst/>
          </a:prstGeom>
          <a:solidFill>
            <a:srgbClr val="1F3A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39696" y="123444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天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139696" y="228600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55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邮件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139696" y="2651760"/>
            <a:ext cx="15087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完整菜单诊断和局部改版示例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23360" y="1673352"/>
            <a:ext cx="402336" cy="402336"/>
          </a:xfrm>
          <a:prstGeom prst="ellipse">
            <a:avLst/>
          </a:prstGeom>
          <a:solidFill>
            <a:srgbClr val="1F3A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22192" y="123444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 天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822192" y="228600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55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电话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822192" y="2651760"/>
            <a:ext cx="15087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确认是否看到示例，约时间沟通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05856" y="1673352"/>
            <a:ext cx="402336" cy="402336"/>
          </a:xfrm>
          <a:prstGeom prst="ellipse">
            <a:avLst/>
          </a:prstGeom>
          <a:solidFill>
            <a:srgbClr val="1F3A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04688" y="123444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10 天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504688" y="228600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55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Instagram / 邮件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504688" y="2651760"/>
            <a:ext cx="15087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类似餐厅案例、交付周期和服务方式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88352" y="1673352"/>
            <a:ext cx="402336" cy="402336"/>
          </a:xfrm>
          <a:prstGeom prst="ellipse">
            <a:avLst/>
          </a:prstGeom>
          <a:solidFill>
            <a:srgbClr val="1F3A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87184" y="123444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14 天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187184" y="228600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55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邮件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87184" y="2651760"/>
            <a:ext cx="15087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最后一次跟进，提供明确的退出方式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9476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904488"/>
            <a:ext cx="457200" cy="45720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4023360"/>
            <a:ext cx="219456" cy="219456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280160" y="3840480"/>
            <a:ext cx="7223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系统每天给每个销售一张任务清单：今天联系谁、用哪个渠道、说什么。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412480" y="475488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B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销售工作台和数据看板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" y="1319479"/>
            <a:ext cx="241402" cy="24140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17043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回复汇总与分类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508760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有兴趣、稍后联系、已有供应商、拒绝，自动分类并提醒销售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240280"/>
            <a:ext cx="502920" cy="50292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2371039"/>
            <a:ext cx="241402" cy="2414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22199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任务与预约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2560320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每日任务清单、跟进提醒、预约链接、报价和成交状态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3291840"/>
            <a:ext cx="502920" cy="50292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" y="342259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327355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禁止联系名单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3611880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退订或拒绝后，所有渠道立即停止</a:t>
            </a:r>
            <a:endParaRPr lang="en-US" sz="115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4480560" y="1097280"/>
          <a:ext cx="4206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6" name="Text 10"/>
          <p:cNvSpPr txBox="1"/>
          <p:nvPr/>
        </p:nvSpPr>
        <p:spPr>
          <a:xfrm>
            <a:off x="4480560" y="443484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B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数字为示意，实际以试点数据为准；看板按渠道、城市、餐厅类型对比效果。</a:t>
            </a:r>
            <a:endParaRPr lang="en-US" sz="950" dirty="0"/>
          </a:p>
        </p:txBody>
      </p:sp>
      <p:sp>
        <p:nvSpPr>
          <p:cNvPr id="17" name="Text 11"/>
          <p:cNvSpPr txBox="1"/>
          <p:nvPr/>
        </p:nvSpPr>
        <p:spPr>
          <a:xfrm>
            <a:off x="8412480" y="475488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B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合规与账号安全，从第一天就内置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53619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43560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首选英国试点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65960"/>
            <a:ext cx="35204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英国允许向有限公司的公开商业邮箱发送营销邮件（需提供退订）；个体经营者改用电话、样品和联系表单。德国、奥地利、西班牙、意大利等要求事先同意，暂不进入。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417320"/>
            <a:ext cx="457200" cy="45720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53619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43560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数据来源可追溯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1965960"/>
            <a:ext cx="35204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每条联系方式记录来源、采集时间和许可；不抓取 Google 地图，不购买来源不明的名单。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" y="288036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3108960"/>
            <a:ext cx="457200" cy="45720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2783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312724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账号不被封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3657600"/>
            <a:ext cx="35204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邮件用独立域名、低量起步、退信和投诉异常自动暂停；WhatsApp 和 Instagram 不用自动群发工具。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663440" y="288036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92040" y="3108960"/>
            <a:ext cx="457200" cy="45720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22783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86400" y="312724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内容真实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892040" y="3657600"/>
            <a:ext cx="35204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只引用检测到的真实菜单问题，不虚构到店经历、案例或身份。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45720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6B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正式运营前，建议请英国法律专业人士确认营销规则。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8412480" y="475488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B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六周试点：先用小范围数据证明效果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B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个国家（英国）· 3–5 个城市 · 1 种语言 · 2–3 类餐厅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813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55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周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5564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数据实测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抽取伦敦 500 家餐厅，实测匹配率、官网采集成功率、各渠道和菜单获取比例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4813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55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2–6 周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75564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受控触达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103120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从约 1,000 家中选约 300 家高匹配餐厅，多渠道跟进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4813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CD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6 周末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75564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复盘决策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103120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按下方门槛决定是否进入第二阶段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进入第二阶段的门槛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429000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55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≥ 90%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9319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送达率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847088" y="3429000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55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 2%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847088" y="39319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退信率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236976" y="3429000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55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3236976" y="39319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垃圾投诉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626864" y="3429000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55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≥ 3%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39319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回复率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016752" y="3429000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55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≥ 5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6016752" y="39319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有兴趣回复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3429000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55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≥ 3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39319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报价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6B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六周约 300 家的样本能验证回复率，还不足以准确判断成交率；验收以系统稳定、数据可追溯、漏斗可统计为主，不承诺成交数量。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412480" y="475488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B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启动前需要您确认的事项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8872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首期城市和重点餐厅类型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57200" cy="45720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188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118872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菜单设计与印刷的平均订单金额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01168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已有案例、作品、价格和交付周期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011680"/>
            <a:ext cx="457200" cy="45720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201168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销售邮箱域名、WhatsApp 号码和 Instagram 账号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83464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负责跟进的销售人数（建议至少 1 名专职）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834640"/>
            <a:ext cx="457200" cy="45720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283464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实物样品的预算和寄送数量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65760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首次触达内容的审批人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3657600"/>
            <a:ext cx="457200" cy="45720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63440" y="3657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365760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试点预算和成功判定标准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475488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B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490472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确认试点范围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490472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D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城市、餐厅类型、订单金额和销售人力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502920" cy="50292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2860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267712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签署验证版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2267712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D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准备域名、邮箱、WhatsApp 和 Instagram 账号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063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044952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周数据实测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3044952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D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用伦敦 500 家餐厅校准评分和渠道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822192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开始六周试点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3822192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D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每周同步漏斗数据，第 6 周末共同复盘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分阶段报价：试点达标后再投入完整版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880360" cy="3429000"/>
          </a:xfrm>
          <a:prstGeom prst="roundRect">
            <a:avLst>
              <a:gd name="adj" fmla="val 2540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55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阶段一 · 验证版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万元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488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B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用于六周试点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14600"/>
            <a:ext cx="251460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开放数据名单与官网联系方式采集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菜单体检和改版对比图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各渠道话术生成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邮件自动跟进 + 销售每日任务清单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基础回复记录和漏斗统计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20440" y="1143000"/>
            <a:ext cx="2880360" cy="3429000"/>
          </a:xfrm>
          <a:prstGeom prst="roundRect">
            <a:avLst>
              <a:gd name="adj" fmla="val 2540"/>
            </a:avLst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49040" y="128016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CD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阶段二 · 标准版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160020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+2.8 万元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21488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D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试点达标后启动，合计 5.8 万元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2514600"/>
            <a:ext cx="251460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新开业信号自动监控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多渠道跟进自动编排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回复自动分类与提醒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完整销售工作台和数据看板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实物样品生成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14300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B9CD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12801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55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持续运维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572768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3000 元/月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2011680"/>
            <a:ext cx="178308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监控、模板调整、模型和接口维护、小范围迭代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28346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B9CDB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0" y="29718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55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另行结算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291840"/>
            <a:ext cx="178308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4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大模型调用、邮件发送工具、域名邮箱、样品印刷和邮寄、可选的付费数据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475488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B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2714</Words>
  <Application>WPS 演示</Application>
  <PresentationFormat>On-screen Show (16:9)</PresentationFormat>
  <Paragraphs>437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方正雅意黑 GB18030L2</vt:lpstr>
      <vt:lpstr>微软雅黑</vt:lpstr>
      <vt:lpstr>微软雅黑</vt:lpstr>
      <vt:lpstr>微软雅黑</vt:lpstr>
      <vt:lpstr>Arial</vt:lpstr>
      <vt:lpstr>Calibri</vt:lpstr>
      <vt:lpstr>Helvetica Neue</vt:lpstr>
      <vt:lpstr>宋体</vt:lpstr>
      <vt:lpstr>Arial Unicode MS</vt:lpstr>
      <vt:lpstr>汉仪书宋二KW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餐厅菜单销售线索系统</dc:title>
  <dc:creator>PptxGenJS</dc:creator>
  <dc:subject>PptxGenJS Presentation</dc:subject>
  <cp:lastModifiedBy>TOM</cp:lastModifiedBy>
  <cp:revision>2</cp:revision>
  <dcterms:created xsi:type="dcterms:W3CDTF">2026-09-29T02:19:01Z</dcterms:created>
  <dcterms:modified xsi:type="dcterms:W3CDTF">2026-09-29T02:19:01Z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2052-12.1.26055.26055</vt:lpwstr>
  </property>
  <property fmtid="{D5CDD505-2E9C-101B-9397-08002B2CF9AE}" pid="3" name="ICV">
    <vt:lpwstr>1EBFB88AE576E1421520BB6A7CB54AFA_42</vt:lpwstr>
  </property>
</Properties>
</file>